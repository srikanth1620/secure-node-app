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0"/>
            <a:ext cx="868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Secure SDLC</a:t>
            </a:r>
            <a:pPr indent="0" marL="0">
              <a:buNone/>
            </a:pPr>
            <a:r>
              <a:rPr lang="en-US" sz="2000" dirty="0">
                <a:solidFill>
                  <a:srgbClr val="0D9488"/>
                </a:solidFill>
              </a:rPr>
              <a:t>  |  </a:t>
            </a:r>
            <a:pPr indent="0" marL="0">
              <a:buNone/>
            </a:pPr>
            <a:r>
              <a:rPr lang="en-US" sz="1800" i="1" dirty="0">
                <a:solidFill>
                  <a:srgbClr val="0D9488"/>
                </a:solidFill>
              </a:rPr>
              <a:t>AppSec Best Practices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961120" y="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Based on Wiz AppSec Cheat Sheet  · 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0" y="493776"/>
            <a:ext cx="1216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DD3FC"/>
                </a:solidFill>
              </a:rPr>
              <a:t>Security embedded at every phase — from design to deployment and beyond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26771" y="749808"/>
            <a:ext cx="2249424" cy="5285232"/>
          </a:xfrm>
          <a:prstGeom prst="rect">
            <a:avLst/>
          </a:prstGeom>
          <a:solidFill>
            <a:srgbClr val="132B4A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6771" y="749808"/>
            <a:ext cx="2249424" cy="502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8211" y="841248"/>
            <a:ext cx="256032" cy="25603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211" y="841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9107" y="84124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Secure by Design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8211" y="1152144"/>
            <a:ext cx="2066544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" y="118872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366F1"/>
                </a:solidFill>
              </a:rPr>
              <a:t>Design  &amp;  Threat Modeling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36499" y="1417320"/>
            <a:ext cx="2048256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Engage security at product planning — not just implementation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Identify business-critical functionality &amp; document abuse cases early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Align on risk tolerance before any code is written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STRIDE: threats across data flows &amp; trust boundaries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PASTA: 7-stage risk-focused model for complex systems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Ask: What are we building? What could go wrong? What do we do?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Tools: Threat Dragon, MS Threat Modeling Tool, Draw.io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Tip: aim for shared understanding — not just artifacts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74950" y="749808"/>
            <a:ext cx="2249424" cy="5285232"/>
          </a:xfrm>
          <a:prstGeom prst="rect">
            <a:avLst/>
          </a:prstGeom>
          <a:solidFill>
            <a:srgbClr val="132B4A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74950" y="749808"/>
            <a:ext cx="2249424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66390" y="84124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66390" y="841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977286" y="84124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Security Requirements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66390" y="1152144"/>
            <a:ext cx="2066544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84678" y="118872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0D9488"/>
                </a:solidFill>
              </a:rPr>
              <a:t>Define  &amp;  Enforce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684678" y="1417320"/>
            <a:ext cx="2048256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Translate security objectives into concrete, enforceable requirements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Mandate: input validation, TLS 1.2+, least privilege, bcrypt/Argon2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Use OWASP security requirements cheat sheet as your baseline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Checklist: auth, session mgmt, encryption, access control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Requirements become guardrails — not blockers — for dev teams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Review abuse cases against each requirement before sign-off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Enforce from the outset — not as a last-minute gate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OWASP ASVS: Application Security Verification Standard levels 1–3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23130" y="749808"/>
            <a:ext cx="2249424" cy="5285232"/>
          </a:xfrm>
          <a:prstGeom prst="rect">
            <a:avLst/>
          </a:prstGeom>
          <a:solidFill>
            <a:srgbClr val="132B4A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23130" y="749808"/>
            <a:ext cx="2249424" cy="502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14570" y="841248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4570" y="841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325466" y="84124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Pipeline Security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14570" y="1152144"/>
            <a:ext cx="2066544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32858" y="118872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F97316"/>
                </a:solidFill>
              </a:rPr>
              <a:t>CI / CD  Security  Gates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32858" y="1417320"/>
            <a:ext cx="2048256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SAST: Semgrep + CodeQL on every PR — blocks Critical / High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SCA: Snyk / Dependabot — daily CVE feed with auto-PRs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Secrets scanning: push protection blocks 200+ patterns pre-merge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DAST: OWASP ZAP baseline scan on every staging deploy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IaC: Checkov + tfsec on every Terraform / Kubernetes PR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Container: Trivy blocks HIGH / CRITICAL CVEs before image push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Approval gates: 2 required reviewers for production deployments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Semantic release: signed artifacts + SBOM on every release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271309" y="749808"/>
            <a:ext cx="2249424" cy="5285232"/>
          </a:xfrm>
          <a:prstGeom prst="rect">
            <a:avLst/>
          </a:prstGeom>
          <a:solidFill>
            <a:srgbClr val="132B4A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271309" y="749808"/>
            <a:ext cx="2249424" cy="502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62749" y="841248"/>
            <a:ext cx="256032" cy="25603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62749" y="841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673645" y="84124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Dev Guardrails &amp; GitHub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62749" y="1152144"/>
            <a:ext cx="2066544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81037" y="118872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3B82F6"/>
                </a:solidFill>
              </a:rPr>
              <a:t>GitHub  +  IDE  Controls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381037" y="1417320"/>
            <a:ext cx="2048256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Branch protection: require PRs, signed commits, no force push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CODEOWNERS: auth / crypto / infra → security team review required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IDE extensions (VS Code): real-time security feedback as you type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PR templates with security checklist; disallow self-approval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Progressive gates: stricter checks as code nears production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API changes: review auth, rate limiting, and access controls in PR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Exceptions require justification — visible in PR for full audit trail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Track and disallow self-approvals on sensitive code paths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619488" y="749808"/>
            <a:ext cx="2249424" cy="5285232"/>
          </a:xfrm>
          <a:prstGeom prst="rect">
            <a:avLst/>
          </a:prstGeom>
          <a:solidFill>
            <a:srgbClr val="132B4A"/>
          </a:solidFill>
          <a:ln w="635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619488" y="749808"/>
            <a:ext cx="2249424" cy="502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10928" y="841248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710928" y="841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05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0021824" y="84124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Secure Coding &amp; Runtime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710928" y="1152144"/>
            <a:ext cx="2066544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729216" y="1188720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FCA5A5"/>
                </a:solidFill>
              </a:rPr>
              <a:t>Secure Coding  Practices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9729216" y="1417320"/>
            <a:ext cx="204825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Input validation + output encoding (prevent XSS, SQLi)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Strong auth: bcrypt/Argon2, MFA, OAuth2, short-lived JWTs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RBAC / ABAC; validate token scopes server-side every request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No secrets in code — Vault / env vars / secrets manager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Anti-CSRF tokens; never expose stack traces to end users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710928" y="3502152"/>
            <a:ext cx="2066544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9729216" y="3557016"/>
            <a:ext cx="2048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FCA5A5"/>
                </a:solidFill>
              </a:rPr>
              <a:t>Runtime  Controls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9729216" y="3785616"/>
            <a:ext cx="2048256" cy="2395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WAF: OWASP Core Rule Set + custom application rules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SIEM: centralised logging, no PII / secrets, full audit trail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DAST + IAST: continuous runtime vulnerability analysis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CVE SLAs: Critical &lt; 24 h  |  High &lt; 7 d  |  Medium &lt; 30 d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HashiCorp Vault: dynamic short-lived credentials (1 h TTL)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</a:rPr>
              <a:t>Feature flags: instant kill-switch without redeploying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483510" y="3392424"/>
            <a:ext cx="84125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31690" y="3392424"/>
            <a:ext cx="84125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79869" y="3392424"/>
            <a:ext cx="84125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528048" y="3392424"/>
            <a:ext cx="84125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6099048"/>
            <a:ext cx="12161520" cy="25603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2843" y="60990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366F1"/>
                </a:solidFill>
              </a:rPr>
              <a:t>01  </a:t>
            </a:r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Design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51022" y="60990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02  </a:t>
            </a:r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Requirements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499202" y="60990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03  </a:t>
            </a:r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Pipeline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847381" y="60990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04  </a:t>
            </a:r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Guardrails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195560" y="60990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05  </a:t>
            </a:r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Code + Runtime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071299" y="6227064"/>
            <a:ext cx="908548" cy="0"/>
          </a:xfrm>
          <a:prstGeom prst="line">
            <a:avLst/>
          </a:prstGeom>
          <a:noFill/>
          <a:ln w="7620">
            <a:solidFill>
              <a:srgbClr val="47556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419478" y="6227064"/>
            <a:ext cx="908548" cy="0"/>
          </a:xfrm>
          <a:prstGeom prst="line">
            <a:avLst/>
          </a:prstGeom>
          <a:noFill/>
          <a:ln w="7620">
            <a:solidFill>
              <a:srgbClr val="47556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7657" y="6227064"/>
            <a:ext cx="908548" cy="0"/>
          </a:xfrm>
          <a:prstGeom prst="line">
            <a:avLst/>
          </a:prstGeom>
          <a:noFill/>
          <a:ln w="7620">
            <a:solidFill>
              <a:srgbClr val="47556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115836" y="6227064"/>
            <a:ext cx="908548" cy="0"/>
          </a:xfrm>
          <a:prstGeom prst="line">
            <a:avLst/>
          </a:prstGeom>
          <a:noFill/>
          <a:ln w="7620">
            <a:solidFill>
              <a:srgbClr val="47556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0" y="6373368"/>
            <a:ext cx="12161520" cy="393192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82880" y="6373368"/>
            <a:ext cx="8686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Shift Left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 ·  Automate Everything  ·  Trust, But Verify  ·  Security is Everyone's Responsibility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8961120" y="6373368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© 2026 Security Team  |  Internal Use Only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SDLC — AppSec Best Practices</dc:title>
  <dc:subject>PptxGenJS Presentation</dc:subject>
  <dc:creator>Security Team</dc:creator>
  <cp:lastModifiedBy>Security Team</cp:lastModifiedBy>
  <cp:revision>1</cp:revision>
  <dcterms:created xsi:type="dcterms:W3CDTF">2026-03-29T12:39:32Z</dcterms:created>
  <dcterms:modified xsi:type="dcterms:W3CDTF">2026-03-29T12:39:32Z</dcterms:modified>
</cp:coreProperties>
</file>