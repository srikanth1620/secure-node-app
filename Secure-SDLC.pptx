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 to Fix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Requirements</c:v>
                  </c:pt>
                  <c:pt idx="1">
                    <c:v>Design</c:v>
                  </c:pt>
                  <c:pt idx="2">
                    <c:v>Development</c:v>
                  </c:pt>
                  <c:pt idx="3">
                    <c:v>Testing</c:v>
                  </c:pt>
                  <c:pt idx="4">
                    <c:v>Deployment</c:v>
                  </c:pt>
                  <c:pt idx="5">
                    <c:v>Post-Release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30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2926080" cy="2926080"/>
          </a:xfrm>
          <a:prstGeom prst="ellipse">
            <a:avLst/>
          </a:prstGeom>
          <a:solidFill>
            <a:srgbClr val="1A3A5C">
              <a:alpha val="7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828800" cy="18288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840480"/>
            <a:ext cx="1645920" cy="16459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960120"/>
            <a:ext cx="219456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Security Into Every Phase of the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· Automate · Monitor · Respond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709160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vs Secure SDLC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776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SDLC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776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business &amp; functional needs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02536"/>
            <a:ext cx="3977640" cy="5212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58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the system and interfaces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39776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24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and unit tests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172968"/>
            <a:ext cx="3977640" cy="5212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9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functional correctness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58184"/>
            <a:ext cx="39776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142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to production environment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343400"/>
            <a:ext cx="3977640" cy="5212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79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Maintenance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99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and feature updates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3977640" cy="292608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572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added only at the end — too late, too expensive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005840"/>
            <a:ext cx="0" cy="38587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846320" y="1005840"/>
            <a:ext cx="3977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 at Every Phase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417320"/>
            <a:ext cx="39776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417320"/>
            <a:ext cx="4572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1453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· compliance · risk appetite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002536"/>
            <a:ext cx="3977640" cy="52120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002536"/>
            <a:ext cx="4572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039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2258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STRIDE · trust boundaries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587752"/>
            <a:ext cx="39776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587752"/>
            <a:ext cx="4572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624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56048" y="2843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secure coding · secrets scanning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172968"/>
            <a:ext cx="3977640" cy="52120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172968"/>
            <a:ext cx="4572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209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56048" y="3429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· pen testing · fuzz testing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758184"/>
            <a:ext cx="39776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758184"/>
            <a:ext cx="4572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794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Deployment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56048" y="40142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scanning · hardening · image signing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4343400"/>
            <a:ext cx="3977640" cy="52120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4343400"/>
            <a:ext cx="4572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4379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Maintenance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56048" y="4599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· patching SLAs · IR playbooks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572000"/>
            <a:ext cx="3977640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572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 cheaper to fix early · fewer breaches · faster compliance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SDLC vs Secure SDLC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Secure SDLC?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integrates security practices at every phase of software development — not as an afterthought, but as a foundational requirement. It reduces breach risk, lowers remediation costs, and ensures compliance.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9748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248716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vulnerabilities early in development when they cost 30× less to fix than in production.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269748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57400"/>
            <a:ext cx="26974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606040"/>
            <a:ext cx="248716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SAST, DAST, and SCA tools in CI/CD pipelines so every commit is checked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69748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057400"/>
            <a:ext cx="2697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2606040"/>
            <a:ext cx="248716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security as an ongoing process with monitoring, threat intelligence, and regular reassessment.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SDLC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woven into every phase — not bolted on at the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325880"/>
            <a:ext cx="2788920" cy="1508760"/>
          </a:xfrm>
          <a:prstGeom prst="rect">
            <a:avLst/>
          </a:prstGeom>
          <a:solidFill>
            <a:srgbClr val="1A3A5C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49047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" y="198424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requirements, abuse cases, compliance mapping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788920" cy="1508760"/>
          </a:xfrm>
          <a:prstGeom prst="rect">
            <a:avLst/>
          </a:prstGeom>
          <a:solidFill>
            <a:srgbClr val="1A3A5C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49047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4408" y="198424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modeling, secure architecture, attack surface 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788920" cy="1508760"/>
          </a:xfrm>
          <a:prstGeom prst="rect">
            <a:avLst/>
          </a:prstGeom>
          <a:solidFill>
            <a:srgbClr val="1A3A5C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0488" y="149047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0488" y="198424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standards, peer reviews, SAST scanning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88920" cy="1508760"/>
          </a:xfrm>
          <a:prstGeom prst="rect">
            <a:avLst/>
          </a:prstGeom>
          <a:solidFill>
            <a:srgbClr val="1A3A5C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3136392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" y="363016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DAST, penetration testing, fuzz testing, SCA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88920" cy="1508760"/>
          </a:xfrm>
          <a:prstGeom prst="rect">
            <a:avLst/>
          </a:prstGeom>
          <a:solidFill>
            <a:srgbClr val="1A3A5C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3136392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4904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64408" y="363016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configs, secrets management, IaC scanning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788920" cy="1508760"/>
          </a:xfrm>
          <a:prstGeom prst="rect">
            <a:avLst/>
          </a:prstGeom>
          <a:solidFill>
            <a:srgbClr val="1A3A5C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0488" y="3136392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90488" y="363016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management, patching, incident response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feeds into the next — and security findings loop back to earlier phases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" y="6858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Require-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2148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starts before a single line of code is written.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4206240"/>
            <a:ext cx="822960" cy="822960"/>
          </a:xfrm>
          <a:prstGeom prst="ellipse">
            <a:avLst/>
          </a:prstGeom>
          <a:solidFill>
            <a:srgbClr val="0D74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8288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4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CIA (Confidentiality, Integrity, Availability) requirements. Document authentication, authorization, encryption, and audit logging needs.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37160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&amp; Misuse Stories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755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user stories with 'As an attacker, I can...' scenarios to identify what must be prevented.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56032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6032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Mapping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requirements to applicable standards: OWASP, PCI-DSS, HIPAA, SOC 2, ISO 27001.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374904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40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 Definition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acceptable risk thresholds and define security acceptance criteria for features.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Phase 1: Requirements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" y="685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architecture is the foundation of a secure product.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4206240"/>
            <a:ext cx="822960" cy="822960"/>
          </a:xfrm>
          <a:prstGeom prst="ellipse">
            <a:avLst/>
          </a:prstGeom>
          <a:solidFill>
            <a:srgbClr val="C261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82880"/>
            <a:ext cx="54864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4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(STRIDE)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identify Spoofing, Tampering, Repudiation, Info Disclosure, DoS, and Elevation of Privilege threats using data flow diagrams.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371600"/>
            <a:ext cx="54864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Architecture Patterns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755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Defense in Depth, Least Privilege, Fail Secure, and Zero Trust principles. Define trust boundaries explicitly.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56032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60320"/>
            <a:ext cx="54864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all entry points, exit points, and data stores. Minimize the attack surface by removing unnecessary features and interfaces.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3749040"/>
            <a:ext cx="54864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40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 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formal security architecture reviews with checklists before proceeding to development.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Phase 2: Design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" y="6858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Develop-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is written, not audited into existence.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4206240"/>
            <a:ext cx="822960" cy="822960"/>
          </a:xfrm>
          <a:prstGeom prst="ellipse">
            <a:avLst/>
          </a:prstGeom>
          <a:solidFill>
            <a:srgbClr val="5B21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8288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4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Standards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language-specific secure coding guidelines (CERT C, SEI, OWASP). Prohibit dangerous functions and patterns by policy.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37160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Static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755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static analysis (Semgrep, SonarQube, Checkmarx) on every commit to catch injection, XSS, hardcoded secrets, and logic errors.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56032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6032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Dependency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vault for secrets, never commit credentials. Run SCA (Snyk, OWASP Dependency-Check) to flag vulnerable third-party libraries.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374904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40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Security-Focused Code Reviews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peer review with a security checklist. Require a second reviewer for authentication, crypto, and authorization code.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Phase 3: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BF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" y="685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BF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security controls before code reaches users.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4206240"/>
            <a:ext cx="822960" cy="822960"/>
          </a:xfrm>
          <a:prstGeom prst="ellipse">
            <a:avLst/>
          </a:prstGeom>
          <a:solidFill>
            <a:srgbClr val="1580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8288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4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Dynamic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scanners (OWASP ZAP, Burp Suite) against the running application to discover injection flaws, auth issues, and misconfigurations.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37160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755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manual and automated pen tests before each major release. Scope should include network, API, web, and mobile surfaces.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56032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6032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fuzzing tools (AFL, Honggfuzz) to send unexpected inputs and uncover crashes, memory corruption, and input validation failures.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374904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40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Regression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suite of security test cases to ensure previously fixed vulnerabilities cannot be reintroduced by new code.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Phase 4: Testing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" y="6858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securely — not just quickly.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4206240"/>
            <a:ext cx="822960" cy="822960"/>
          </a:xfrm>
          <a:prstGeom prst="ellipse">
            <a:avLst/>
          </a:prstGeom>
          <a:solidFill>
            <a:srgbClr val="0369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82880"/>
            <a:ext cx="54864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4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Configuration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CIS Benchmarks for servers, containers, and cloud resources. Disable unused services, ports, and default credentials before go-live.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371600"/>
            <a:ext cx="54864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Key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755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HashiCorp Vault, AWS Secrets Manager, or Azure Key Vault. Rotate credentials on deployment. Never store secrets in environment files in source control.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56032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60320"/>
            <a:ext cx="54864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(IaC) Scanning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Terraform, CloudFormation, and Kubernetes manifests with Checkov or tfsec before applying to production.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3749040"/>
            <a:ext cx="54864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40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container images, verify checksums, enforce gated approvals for production deployments, and maintain a full deployment audit trail.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Phase 5: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" y="6858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Mainte-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doesn't stop at launch — it evolves with threats.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4206240"/>
            <a:ext cx="822960" cy="822960"/>
          </a:xfrm>
          <a:prstGeom prst="ellipse">
            <a:avLst/>
          </a:prstGeom>
          <a:solidFill>
            <a:srgbClr val="991B1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8288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4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(SIEM)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5669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SIEM solutions (Splunk, Elastic SIEM) with alerts for anomalous authentication, privilege escalation, and data exfiltration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37160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&amp; Patch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755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CVEs, assess CVSS scores, and enforce SLAs: critical patches within 24h, high within 7 days, medium within 30 days.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56032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256032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regularly test an IR playbook. Assign roles, establish communication trees, and conduct tabletop exercises quarterly.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58521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374904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40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Retrospectives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incidents or near-misses, conduct root cause analysis. Feed lessons learned back into requirements, design, and coding standards.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 |  Phase 6: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with STRIDE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identify threats before they become vulnerabilities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37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Impersonating another user or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MFA, strong authentication, certificate pinning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420624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9260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Modifying data in transit or at rest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Digital signatures, integrity checks, TLS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420624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41148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Denying actions with no audit trail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453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Immutable audit logs, digital signatures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20624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7373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Exposing data to unauthorized parties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Encryption at rest/transit, access controls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606040"/>
            <a:ext cx="420624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9260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Making systems unavailable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Rate limiting, WAF, CDN, auto-scaling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794760"/>
            <a:ext cx="420624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411480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94960" y="3867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Gaining unauthorized elevated permissions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4453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Least privilege, RBAC, input validation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consider: PASTA, VAST, Attack Trees, LINDDUN for privacy threats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— Key Risks to Address in Every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6692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4173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023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39112"/>
            <a:ext cx="566928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0391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60904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60904"/>
            <a:ext cx="566928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66090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4023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82696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826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04488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04488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04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9044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41732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417320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3792" y="14173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&amp; Outdated Components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039112"/>
            <a:ext cx="4023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039112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3792" y="20391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Authentication Failures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660904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660904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266090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Data Integrity Failures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282696"/>
            <a:ext cx="40233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3282696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93792" y="32826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Logging &amp; Monitoring Failures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3904488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904488"/>
            <a:ext cx="5669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904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93792" y="39044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 (SSRF)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49240" y="1005840"/>
            <a:ext cx="3520440" cy="3703320"/>
          </a:xfrm>
          <a:prstGeom prst="rect">
            <a:avLst/>
          </a:prstGeom>
          <a:solidFill>
            <a:srgbClr val="0F234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40680" y="1078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Resources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8640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0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Verification Standard — 3 levels of verification rigor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Testing Guide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0" y="2395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manual testing methodology (400+ test cases)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SAMM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0" y="3054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Assurance Maturity Model — assess and improve your security program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Cheat Sheets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0" y="37124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best-practice guides for 80+ security topics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0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Dependency-Check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0" y="4370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tool to identify vulnerable third-party components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by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150876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02412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Dragon, IriusRisk, Microsoft TMT, Confluence (Risk Registry)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85039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91640"/>
            <a:ext cx="1508760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916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691640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Dragon, Miro (DFDs), draw.io, PlantUML, Microsoft TMT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9152"/>
            <a:ext cx="150876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91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359152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Semgrep, SonarQube, Checkmarx, Snyk Code, GitLeaks, Bandit (Python), ESLint 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26664"/>
            <a:ext cx="85039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26664"/>
            <a:ext cx="1508760" cy="6035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2666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02666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ZAP, Burp Suite Pro, Nuclei, Nessus, Metasploit, AFL++, SQLMap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94176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94176"/>
            <a:ext cx="1508760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6941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694176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Checkov, tfsec, Trivy, Grype, AWS Inspector, Azure Defender, Vault (HashiCorp)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361688"/>
            <a:ext cx="85039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361688"/>
            <a:ext cx="1508760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36168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436168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Elastic SIEM, PagerDuty, Wazuh, Snyk SCA, OWASP Dependency-Check, TheHive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tools that integrate with your CI/CD pipeline for maximum coverage and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49440" y="274320"/>
            <a:ext cx="1920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74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DevSecOps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26187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36192" y="1188720"/>
            <a:ext cx="201168" cy="137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005840"/>
            <a:ext cx="126187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005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99232" y="1188720"/>
            <a:ext cx="201168" cy="137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1261872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05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62272" y="1188720"/>
            <a:ext cx="201168" cy="137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1261872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05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25312" y="1188720"/>
            <a:ext cx="201168" cy="137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05840"/>
            <a:ext cx="126187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05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88352" y="1188720"/>
            <a:ext cx="201168" cy="137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005840"/>
            <a:ext cx="1261872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005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1600200"/>
            <a:ext cx="1261872" cy="3108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71907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1664208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4323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3774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commits (GPG)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4553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090672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enforcement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8587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803904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(GitLeaks)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37360" y="1600200"/>
            <a:ext cx="1261872" cy="3108960"/>
          </a:xfrm>
          <a:prstGeom prst="rect">
            <a:avLst/>
          </a:prstGeom>
          <a:solidFill>
            <a:srgbClr val="1A3A5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0" y="17190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1664208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(Semgrep / Sonar)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0" y="24323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23774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audit (SCA)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0" y="31455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3090672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compliance check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28800" y="385876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3392" y="3803904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0" y="1600200"/>
            <a:ext cx="1261872" cy="3108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0" y="171907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6432" y="1664208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(OWASP ZAP)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243230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56432" y="23774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unit/integration tests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0" y="314553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6432" y="3090672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testing (AFL++)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91840" y="385876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6432" y="3803904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regression gate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1600200"/>
            <a:ext cx="1261872" cy="3108960"/>
          </a:xfrm>
          <a:prstGeom prst="rect">
            <a:avLst/>
          </a:prstGeom>
          <a:solidFill>
            <a:srgbClr val="1A3A5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17190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1664208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signing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243230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23774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 (Trivy)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314553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3090672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54880" y="385876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9472" y="3803904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attestation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26480" y="1600200"/>
            <a:ext cx="1261872" cy="3108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171907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1664208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(automated)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17920" y="243230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23774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 detection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17920" y="3145536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82512" y="3090672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baseline scan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17920" y="3858768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3803904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assertion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589520" y="1600200"/>
            <a:ext cx="1261872" cy="3108960"/>
          </a:xfrm>
          <a:prstGeom prst="rect">
            <a:avLst/>
          </a:prstGeom>
          <a:solidFill>
            <a:srgbClr val="1A3A5C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680960" y="171907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45552" y="1664208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infra (IaC)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680960" y="243230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45552" y="23774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protection (RASP)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680960" y="314553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45552" y="3090672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DDoS mitigation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680960" y="385876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45552" y="3803904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2880" y="48371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048" y="4773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on security gates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423160" y="48371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24328" y="4773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is automated &amp; enforced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663440" y="48371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64608" y="4773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every deployment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903720" y="48371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04888" y="4773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touch code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code, culture, and shared responsibility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9601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34440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417320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13432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1417320"/>
            <a:ext cx="96012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92424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1296" y="1417320"/>
            <a:ext cx="9601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1417320"/>
            <a:ext cx="9601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50408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417320"/>
            <a:ext cx="96012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8272" y="1417320"/>
            <a:ext cx="96012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08392" y="1581912"/>
            <a:ext cx="11887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27264" y="1417320"/>
            <a:ext cx="9601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27264" y="141732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gates embedded at every stage — automated, measurable, enforced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2377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Code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security policies, configurations, and controls as version-controlled code (OPA, Sentinel, Conftest).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2377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owns security — not just the security team. Training, secure defaults, and tooling enable this.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3703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Fix Fast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" y="4069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 block insecure code immediately. Developers get actionable feedback in seconds, not weeks.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3703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Visibility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4069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MTTR for vulnerabilities, DAST coverage, secrets leak rate, and SLA compliance on a security dashboard.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culture: security champions, gamified training, bug bounty programs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Case: Cost of Fixing Vulnerabilities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0058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0789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601968" y="10607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0196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fix in production vs requirements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92024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9202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9933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601968" y="19751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0196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known vulnerabilities with available patches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283464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8346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9077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$4.8M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601968" y="28895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0196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breach (IBM 2024)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374904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37490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8221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601968" y="38039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01968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investing in secure SDLC vs reactive remediation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3A5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"/>
            <a:ext cx="1828800" cy="1828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Security In,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Bolting 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21792" y="20116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 must be defined before the first sprint begins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4963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780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in design phase eliminates entire vulnerability classes early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29809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626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SAST/SCA in CI/CD provides continuous security without slowing delivery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34655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447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and DAST validate controls before every production release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9502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9319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deployments and secrets management prevent infrastructure-level breaches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" y="4434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165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and incident response complete the security lifecycle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Today: Pick one phase, embed one tool, measure the impact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SDLC</dc:title>
  <dc:subject>PptxGenJS Presentation</dc:subject>
  <dc:creator>Security Team</dc:creator>
  <cp:lastModifiedBy>Security Team</cp:lastModifiedBy>
  <cp:revision>1</cp:revision>
  <dcterms:created xsi:type="dcterms:W3CDTF">2026-03-28T01:30:39Z</dcterms:created>
  <dcterms:modified xsi:type="dcterms:W3CDTF">2026-03-28T01:30:39Z</dcterms:modified>
</cp:coreProperties>
</file>